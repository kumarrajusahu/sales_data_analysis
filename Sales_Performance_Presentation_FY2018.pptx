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2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3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4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5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8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Margin %</c:v>
                </c:pt>
              </c:strCache>
            </c:strRef>
          </c:tx>
          <c:spPr>
            <a:solidFill>
              <a:srgbClr val="C9962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FY2018 Actual</c:v>
                  </c:pt>
                  <c:pt idx="1">
                    <c:v>Industry Benchmark (Low)</c:v>
                  </c:pt>
                  <c:pt idx="2">
                    <c:v>Industry Benchmark (High)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8.44</c:v>
                </c:pt>
                <c:pt idx="1">
                  <c:v>10</c:v>
                </c:pt>
                <c:pt idx="2">
                  <c:v>15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5B6BA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7"/>
        </c:scaling>
        <c:delete val="0"/>
        <c:axPos val="b"/>
        <c:majorGridlines>
          <c:spPr>
            <a:ln w="6350" cap="flat">
              <a:solidFill>
                <a:srgbClr val="3A468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5B6BA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E2761"/>
        </a:solidFill>
        <a:ln>
          <a:noFill/>
        </a:ln>
        <a:effectLst/>
      </c:spPr>
    </c:plotArea>
    <c:plotVisOnly val="1"/>
    <c:dispBlanksAs val="span"/>
  </c:chart>
  <c:spPr>
    <a:solidFill>
      <a:srgbClr val="1E2761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 (₹)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A1A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Electronics</c:v>
                  </c:pt>
                  <c:pt idx="1">
                    <c:v>Clothing</c:v>
                  </c:pt>
                  <c:pt idx="2">
                    <c:v>Furniture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166267</c:v>
                </c:pt>
                <c:pt idx="1">
                  <c:v>144323</c:v>
                </c:pt>
                <c:pt idx="2">
                  <c:v>127181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Profit (₹)</c:v>
                </c:pt>
              </c:strCache>
            </c:strRef>
          </c:tx>
          <c:spPr>
            <a:solidFill>
              <a:srgbClr val="C9962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A1A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Electronics</c:v>
                  </c:pt>
                  <c:pt idx="1">
                    <c:v>Clothing</c:v>
                  </c:pt>
                  <c:pt idx="2">
                    <c:v>Furniture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13162</c:v>
                </c:pt>
                <c:pt idx="1">
                  <c:v>13325</c:v>
                </c:pt>
                <c:pt idx="2">
                  <c:v>10476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A1A2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47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47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Margin %</c:v>
                </c:pt>
              </c:strCache>
            </c:strRef>
          </c:tx>
          <c:spPr>
            <a:solidFill>
              <a:srgbClr val="0D6E6E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050" u="none">
                    <a:solidFill>
                      <a:srgbClr val="1A1A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Sheet1!$A$2:$A$14</c:f>
              <c:multiLvlStrCache>
                <c:ptCount val="13"/>
                <c:lvl>
                  <c:pt idx="0">
                    <c:v>T-shirt</c:v>
                  </c:pt>
                  <c:pt idx="1">
                    <c:v>Shirt</c:v>
                  </c:pt>
                  <c:pt idx="2">
                    <c:v>Accessories</c:v>
                  </c:pt>
                  <c:pt idx="3">
                    <c:v>Printers</c:v>
                  </c:pt>
                  <c:pt idx="4">
                    <c:v>Tables</c:v>
                  </c:pt>
                  <c:pt idx="5">
                    <c:v>Stole</c:v>
                  </c:pt>
                  <c:pt idx="6">
                    <c:v>Hankerchief</c:v>
                  </c:pt>
                  <c:pt idx="7">
                    <c:v>Bookcases</c:v>
                  </c:pt>
                  <c:pt idx="8">
                    <c:v>Trousers</c:v>
                  </c:pt>
                  <c:pt idx="9">
                    <c:v>Furnishings</c:v>
                  </c:pt>
                  <c:pt idx="10">
                    <c:v>Electronic Games</c:v>
                  </c:pt>
                  <c:pt idx="11">
                    <c:v>Kurti</c:v>
                  </c:pt>
                  <c:pt idx="12">
                    <c:v>Skirt</c:v>
                  </c:pt>
                </c:lvl>
              </c:multiLvlStrCache>
            </c:multiLvl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20.32</c:v>
                </c:pt>
                <c:pt idx="1">
                  <c:v>20.03</c:v>
                </c:pt>
                <c:pt idx="2">
                  <c:v>15.43</c:v>
                </c:pt>
                <c:pt idx="3">
                  <c:v>14.52</c:v>
                </c:pt>
                <c:pt idx="4">
                  <c:v>13.88</c:v>
                </c:pt>
                <c:pt idx="5">
                  <c:v>13.11</c:v>
                </c:pt>
                <c:pt idx="6">
                  <c:v>12.75</c:v>
                </c:pt>
                <c:pt idx="7">
                  <c:v>11.46</c:v>
                </c:pt>
                <c:pt idx="8">
                  <c:v>9.48</c:v>
                </c:pt>
                <c:pt idx="9">
                  <c:v>-5.98</c:v>
                </c:pt>
                <c:pt idx="10">
                  <c:v>-1.64</c:v>
                </c:pt>
                <c:pt idx="11">
                  <c:v>-11.93</c:v>
                </c:pt>
                <c:pt idx="12">
                  <c:v>-16.19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050" u="none">
                  <a:solidFill>
                    <a:srgbClr val="1A1A2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50" b="0" i="0" u="none" strike="noStrike">
                <a:solidFill>
                  <a:srgbClr val="1A1A2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4"/>
          <c:min val="-20"/>
        </c:scaling>
        <c:delete val="0"/>
        <c:axPos val="b"/>
        <c:majorGridlines>
          <c:spPr>
            <a:ln w="6350" cap="flat">
              <a:solidFill>
                <a:srgbClr val="DCE2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47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7F8FB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 (₹)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A1A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Maharashtra</c:v>
                  </c:pt>
                  <c:pt idx="1">
                    <c:v>Madhya Pradesh</c:v>
                  </c:pt>
                  <c:pt idx="2">
                    <c:v>Uttar Pradesh</c:v>
                  </c:pt>
                  <c:pt idx="3">
                    <c:v>Delhi</c:v>
                  </c:pt>
                  <c:pt idx="4">
                    <c:v>Rajasthan</c:v>
                  </c:pt>
                  <c:pt idx="5">
                    <c:v>Gujarat</c:v>
                  </c:pt>
                  <c:pt idx="6">
                    <c:v>Punjab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102498</c:v>
                </c:pt>
                <c:pt idx="1">
                  <c:v>87463</c:v>
                </c:pt>
                <c:pt idx="2">
                  <c:v>38362</c:v>
                </c:pt>
                <c:pt idx="3">
                  <c:v>22957</c:v>
                </c:pt>
                <c:pt idx="4">
                  <c:v>22334</c:v>
                </c:pt>
                <c:pt idx="5">
                  <c:v>21371</c:v>
                </c:pt>
                <c:pt idx="6">
                  <c:v>16786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A1A2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47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47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761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E2761"/>
                </a:solidFill>
                <a:latin typeface="Arial"/>
              </a:rPr>
              <a:t>Top 10 Customers by Spend (₹)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Spend (₹)</c:v>
                </c:pt>
              </c:strCache>
            </c:strRef>
          </c:tx>
          <c:spPr>
            <a:solidFill>
              <a:srgbClr val="0D6E6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A1A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Harivansh</c:v>
                  </c:pt>
                  <c:pt idx="1">
                    <c:v>Madhav</c:v>
                  </c:pt>
                  <c:pt idx="2">
                    <c:v>Madan Mohan</c:v>
                  </c:pt>
                  <c:pt idx="3">
                    <c:v>Shiva</c:v>
                  </c:pt>
                  <c:pt idx="4">
                    <c:v>Vishakha</c:v>
                  </c:pt>
                  <c:pt idx="5">
                    <c:v>Vrinda</c:v>
                  </c:pt>
                  <c:pt idx="6">
                    <c:v>Lalita</c:v>
                  </c:pt>
                  <c:pt idx="7">
                    <c:v>Priyanka</c:v>
                  </c:pt>
                  <c:pt idx="8">
                    <c:v>Shruti</c:v>
                  </c:pt>
                  <c:pt idx="9">
                    <c:v>Abhijeet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9902</c:v>
                </c:pt>
                <c:pt idx="1">
                  <c:v>9365</c:v>
                </c:pt>
                <c:pt idx="2">
                  <c:v>7766</c:v>
                </c:pt>
                <c:pt idx="3">
                  <c:v>6339</c:v>
                </c:pt>
                <c:pt idx="4">
                  <c:v>6120</c:v>
                </c:pt>
                <c:pt idx="5">
                  <c:v>5820</c:v>
                </c:pt>
                <c:pt idx="6">
                  <c:v>5809</c:v>
                </c:pt>
                <c:pt idx="7">
                  <c:v>5762</c:v>
                </c:pt>
                <c:pt idx="8">
                  <c:v>5750</c:v>
                </c:pt>
                <c:pt idx="9">
                  <c:v>5691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A1A2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47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CE2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47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7F8FB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E2761"/>
                </a:solidFill>
                <a:latin typeface="Arial"/>
              </a:defRPr>
            </a:pPr>
            <a:r>
              <a:rPr sz="1400" b="0" i="0" u="none" strike="noStrike">
                <a:solidFill>
                  <a:srgbClr val="1E2761"/>
                </a:solidFill>
                <a:latin typeface="Arial"/>
              </a:rPr>
              <a:t>Sales Share by Payment Mode</a:t>
            </a:r>
          </a:p>
        </c:rich>
      </c:tx>
      <c:layout/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 Share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E2761"/>
              </a:solidFill>
              <a:effectLst/>
            </c:spPr>
          </c:dPt>
          <c:dPt>
            <c:idx val="1"/>
            <c:bubble3D val="0"/>
            <c:spPr>
              <a:solidFill>
                <a:srgbClr val="0D6E6E"/>
              </a:solidFill>
              <a:effectLst/>
            </c:spPr>
          </c:dPt>
          <c:dPt>
            <c:idx val="2"/>
            <c:bubble3D val="0"/>
            <c:spPr>
              <a:solidFill>
                <a:srgbClr val="C9962C"/>
              </a:solidFill>
              <a:effectLst/>
            </c:spPr>
          </c:dPt>
          <c:dPt>
            <c:idx val="3"/>
            <c:bubble3D val="0"/>
            <c:spPr>
              <a:solidFill>
                <a:srgbClr val="8FA3D6"/>
              </a:solidFill>
              <a:effectLst/>
            </c:spPr>
          </c:dPt>
          <c:dPt>
            <c:idx val="4"/>
            <c:bubble3D val="0"/>
            <c:spPr>
              <a:solidFill>
                <a:srgbClr val="B7C6E8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COD</c:v>
                </c:pt>
                <c:pt idx="1">
                  <c:v>Credit Card</c:v>
                </c:pt>
                <c:pt idx="2">
                  <c:v>EMI</c:v>
                </c:pt>
                <c:pt idx="3">
                  <c:v>UPI</c:v>
                </c:pt>
                <c:pt idx="4">
                  <c:v>Debit Card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155181</c:v>
                </c:pt>
                <c:pt idx="1">
                  <c:v>86932</c:v>
                </c:pt>
                <c:pt idx="2">
                  <c:v>77881</c:v>
                </c:pt>
                <c:pt idx="3">
                  <c:v>68641</c:v>
                </c:pt>
                <c:pt idx="4">
                  <c:v>49136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>
              <a:solidFill>
                <a:srgbClr val="5B6472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E2761"/>
                </a:solidFill>
                <a:latin typeface="Arial"/>
              </a:defRPr>
            </a:pPr>
            <a:r>
              <a:rPr sz="1400" b="0" i="0" u="none" strike="noStrike">
                <a:solidFill>
                  <a:srgbClr val="1E2761"/>
                </a:solidFill>
                <a:latin typeface="Arial"/>
              </a:rPr>
              <a:t>Profit Margin by Payment Mode (%)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Margin %</c:v>
                </c:pt>
              </c:strCache>
            </c:strRef>
          </c:tx>
          <c:spPr>
            <a:solidFill>
              <a:srgbClr val="C9962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A1A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Credit Card</c:v>
                  </c:pt>
                  <c:pt idx="1">
                    <c:v>COD</c:v>
                  </c:pt>
                  <c:pt idx="2">
                    <c:v>Debit Card</c:v>
                  </c:pt>
                  <c:pt idx="3">
                    <c:v>EMI</c:v>
                  </c:pt>
                  <c:pt idx="4">
                    <c:v>UPI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14.51</c:v>
                </c:pt>
                <c:pt idx="1">
                  <c:v>8.09</c:v>
                </c:pt>
                <c:pt idx="2">
                  <c:v>7.52</c:v>
                </c:pt>
                <c:pt idx="3">
                  <c:v>6.2</c:v>
                </c:pt>
                <c:pt idx="4">
                  <c:v>4.79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A1A2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47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47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E2761"/>
                </a:solidFill>
                <a:latin typeface="Arial"/>
              </a:defRPr>
            </a:pPr>
            <a:r>
              <a:rPr sz="1400" b="0" i="0" u="none" strike="noStrike">
                <a:solidFill>
                  <a:srgbClr val="1E2761"/>
                </a:solidFill>
                <a:latin typeface="Arial"/>
              </a:rPr>
              <a:t>Monthly Profit — FY2018 (₹)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Profit (₹)</c:v>
                </c:pt>
              </c:strCache>
            </c:strRef>
          </c:tx>
          <c:spPr>
            <a:solidFill>
              <a:srgbClr val="0D6E6E"/>
            </a:solidFill>
            <a:ln w="38100" cap="flat">
              <a:solidFill>
                <a:srgbClr val="0D6E6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A1A2E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D6E6E"/>
              </a:solidFill>
              <a:ln w="9525" cap="flat">
                <a:solidFill>
                  <a:srgbClr val="0D6E6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9684</c:v>
                </c:pt>
                <c:pt idx="1">
                  <c:v>8465</c:v>
                </c:pt>
                <c:pt idx="2">
                  <c:v>7793</c:v>
                </c:pt>
                <c:pt idx="3">
                  <c:v>4192</c:v>
                </c:pt>
                <c:pt idx="4">
                  <c:v>-3730</c:v>
                </c:pt>
                <c:pt idx="5">
                  <c:v>420</c:v>
                </c:pt>
                <c:pt idx="6">
                  <c:v>-2138</c:v>
                </c:pt>
                <c:pt idx="7">
                  <c:v>2068</c:v>
                </c:pt>
                <c:pt idx="8">
                  <c:v>-1399</c:v>
                </c:pt>
                <c:pt idx="9">
                  <c:v>2959</c:v>
                </c:pt>
                <c:pt idx="10">
                  <c:v>10253</c:v>
                </c:pt>
                <c:pt idx="11">
                  <c:v>-1604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A1A2E"/>
                  </a:solidFill>
                  <a:latin typeface="Arial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47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CE2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47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7F8FB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the group. This deck covers full FY2018 e-commerce performance across 500 orders / 1,500 line items, reconciled with the Power BI dashboard totals.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Full-year sales of ₹4.38L at ₹37K profit — an 8.44% blended margin, below the typical 10-15% e-commerce benchmark range. Walk through the four bullets, then use the margin comparison chart to frame the rest of the deck as 'closing this gap'.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Electronics has the biggest top line but Clothing actually edges it on absolute profit thanks to a better margin and very high unit velocity — 3,516 units vs 1,154 for Electronics.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chart shows margin, not sales — note Electronic Games has meaningful sales volume (₹39K) despite a small negative margin, so it's a bigger dollar problem than Skirt or Kurti even though its % looks less severe.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Maharashtra and Madhya Pradesh together are 43% of national sales. Flag Rajasthan and Andhra Pradesh as the only sizeable states running a full-year loss.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336 customers averaging 1.49 orders each — a healthy runway for a loyalty program, since most growth would come from getting existing customers to buy more often rather than needing new acquisition.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3x margin gap between Credit Card (14.5%) and UPI (4.8%) is large — worth understanding whether it's basket composition, processing fees, or return-rate differences.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months — May, July, September — closed at a net loss despite positive sales. Q1 delivered 71% of the year's total profit on 37% of sales; this is the single most important chart in the deck.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these three columns as a sequence, not a menu — start with the immediate items since they directly address the loss-making lines and Q3 dip covered earlier in the deck.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pointing to the companion Word report for full detail and the Power BI dashboard for live drill-down.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chart" Target="/ppt/charts/chart1.xml"/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image" Target="../media/image-4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image" Target="../media/image-5-1.png"/><Relationship Id="rId3" Type="http://schemas.openxmlformats.org/officeDocument/2006/relationships/image" Target="../media/image-5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chart" Target="/ppt/charts/chart7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B4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2011680"/>
            <a:ext cx="5486400" cy="5486400"/>
          </a:xfrm>
          <a:prstGeom prst="ellipse">
            <a:avLst/>
          </a:prstGeom>
          <a:solidFill>
            <a:srgbClr val="1E2761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286000" y="4114800"/>
            <a:ext cx="4572000" cy="4572000"/>
          </a:xfrm>
          <a:prstGeom prst="ellipse">
            <a:avLst/>
          </a:prstGeom>
          <a:solidFill>
            <a:srgbClr val="0D6E6E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19456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E-COMMERCE SALES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822960" y="29718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996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PERFORMANCE REVIEW — FY2018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822960" y="3703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full-year analysis of sales, profitability, and growth opportunity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58521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AEB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by: Raju Kumar Sahu, Data Analyst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AEB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Sources: Orders.csv · Details.csv · Power BI Dashboard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AEB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 Summary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FY2018 delivered solid top-line growth at a below-benchmark blended margin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24688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1627632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" y="1728216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2084832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₹438K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640080" y="26060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Sales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337560" y="1463040"/>
            <a:ext cx="24688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502152" y="1627632"/>
            <a:ext cx="457200" cy="457200"/>
          </a:xfrm>
          <a:prstGeom prst="ellipse">
            <a:avLst/>
          </a:prstGeom>
          <a:solidFill>
            <a:srgbClr val="0D6E6E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2736" y="1728216"/>
            <a:ext cx="256032" cy="2560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429000" y="2084832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D6E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₹37K</a:t>
            </a:r>
            <a:endParaRPr lang="en-US" sz="3000" dirty="0"/>
          </a:p>
        </p:txBody>
      </p:sp>
      <p:sp>
        <p:nvSpPr>
          <p:cNvPr id="13" name="Text 9"/>
          <p:cNvSpPr/>
          <p:nvPr/>
        </p:nvSpPr>
        <p:spPr>
          <a:xfrm>
            <a:off x="3429000" y="26060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Profit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126480" y="1463040"/>
            <a:ext cx="24688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291072" y="1627632"/>
            <a:ext cx="457200" cy="457200"/>
          </a:xfrm>
          <a:prstGeom prst="ellipse">
            <a:avLst/>
          </a:prstGeom>
          <a:solidFill>
            <a:srgbClr val="C9962C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1656" y="1728216"/>
            <a:ext cx="256032" cy="25603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217920" y="2084832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C996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8.44%</a:t>
            </a:r>
            <a:endParaRPr lang="en-US" sz="3000" dirty="0"/>
          </a:p>
        </p:txBody>
      </p:sp>
      <p:sp>
        <p:nvSpPr>
          <p:cNvPr id="18" name="Text 13"/>
          <p:cNvSpPr/>
          <p:nvPr/>
        </p:nvSpPr>
        <p:spPr>
          <a:xfrm>
            <a:off x="6217920" y="26060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Margin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8915400" y="1463040"/>
            <a:ext cx="24688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079992" y="1627632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80576" y="1728216"/>
            <a:ext cx="256032" cy="25603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006840" y="2084832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5,615</a:t>
            </a:r>
            <a:endParaRPr lang="en-US" sz="3000" dirty="0"/>
          </a:p>
        </p:txBody>
      </p:sp>
      <p:sp>
        <p:nvSpPr>
          <p:cNvPr id="23" name="Text 17"/>
          <p:cNvSpPr/>
          <p:nvPr/>
        </p:nvSpPr>
        <p:spPr>
          <a:xfrm>
            <a:off x="9006840" y="26060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Sold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548640" y="32461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Findings</a:t>
            </a:r>
            <a:endParaRPr lang="en-US" sz="1700" dirty="0"/>
          </a:p>
        </p:txBody>
      </p:sp>
      <p:sp>
        <p:nvSpPr>
          <p:cNvPr id="25" name="Text 19"/>
          <p:cNvSpPr/>
          <p:nvPr/>
        </p:nvSpPr>
        <p:spPr>
          <a:xfrm>
            <a:off x="548640" y="3657600"/>
            <a:ext cx="557784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Clothing leads on profit (₹13.3K) and margin (9.23%) despite lower sales than Electronics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sub-categories operated at a net loss for the full year (₹1,896 combined)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alone delivered 71% of the year's total profit on just 37% of sales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Card is the most profitable channel (14.5% margin); UPI the least (4.8%)</a:t>
            </a:r>
            <a:endParaRPr lang="en-US" sz="1350" dirty="0"/>
          </a:p>
        </p:txBody>
      </p:sp>
      <p:sp>
        <p:nvSpPr>
          <p:cNvPr id="26" name="Shape 20"/>
          <p:cNvSpPr/>
          <p:nvPr/>
        </p:nvSpPr>
        <p:spPr>
          <a:xfrm>
            <a:off x="6400800" y="3246120"/>
            <a:ext cx="5212080" cy="3063240"/>
          </a:xfrm>
          <a:prstGeom prst="roundRect">
            <a:avLst>
              <a:gd name="adj" fmla="val 2388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000000">
                <a:alpha val="15000"/>
              </a:srgbClr>
            </a:outerShdw>
          </a:effectLst>
        </p:spPr>
      </p:sp>
      <p:sp>
        <p:nvSpPr>
          <p:cNvPr id="27" name="Text 21"/>
          <p:cNvSpPr/>
          <p:nvPr/>
        </p:nvSpPr>
        <p:spPr>
          <a:xfrm>
            <a:off x="6675120" y="342900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Margin vs. Industry Benchmark</a:t>
            </a:r>
            <a:endParaRPr lang="en-US" sz="1500" dirty="0"/>
          </a:p>
        </p:txBody>
      </p:sp>
      <p:graphicFrame>
        <p:nvGraphicFramePr>
          <p:cNvPr id="28" name="Chart 0" descr=""/>
          <p:cNvGraphicFramePr/>
          <p:nvPr/>
        </p:nvGraphicFramePr>
        <p:xfrm>
          <a:off x="6675120" y="3886200"/>
          <a:ext cx="4663440" cy="2240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29" name="Text 22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Category Performance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Clothing drives the strongest margin; Electronics leads on scale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417320"/>
          <a:ext cx="640080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269480" y="1417320"/>
            <a:ext cx="4389120" cy="1234440"/>
          </a:xfrm>
          <a:prstGeom prst="roundRect">
            <a:avLst>
              <a:gd name="adj" fmla="val 5926"/>
            </a:avLst>
          </a:prstGeom>
          <a:solidFill>
            <a:srgbClr val="F7F8FB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452360" y="150876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Electronics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452360" y="187452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7.92% margin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452360" y="224028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revenue, average margin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7269480" y="2834640"/>
            <a:ext cx="4389120" cy="1234440"/>
          </a:xfrm>
          <a:prstGeom prst="roundRect">
            <a:avLst>
              <a:gd name="adj" fmla="val 5926"/>
            </a:avLst>
          </a:prstGeom>
          <a:solidFill>
            <a:srgbClr val="F7F8FB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7452360" y="292608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Clothing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7452360" y="329184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9.23% margin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452360" y="365760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margin + highest unit volume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7269480" y="4251960"/>
            <a:ext cx="4389120" cy="1234440"/>
          </a:xfrm>
          <a:prstGeom prst="roundRect">
            <a:avLst>
              <a:gd name="adj" fmla="val 5926"/>
            </a:avLst>
          </a:prstGeom>
          <a:solidFill>
            <a:srgbClr val="F7F8FB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7452360" y="434340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Furniture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7452360" y="470916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8.24% margin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7452360" y="507492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profit contribution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Product-Level Profitability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sub-categories are eroding margin and require immediate review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371600"/>
          <a:ext cx="7635240" cy="4434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275320" y="1371600"/>
            <a:ext cx="3383280" cy="4434840"/>
          </a:xfrm>
          <a:prstGeom prst="roundRect">
            <a:avLst>
              <a:gd name="adj" fmla="val 2162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000000">
                <a:alpha val="15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0" y="1572768"/>
            <a:ext cx="347472" cy="34747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942832" y="1572768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Loss-Making Lines</a:t>
            </a:r>
            <a:endParaRPr lang="en-US" sz="1500" dirty="0"/>
          </a:p>
        </p:txBody>
      </p:sp>
      <p:sp>
        <p:nvSpPr>
          <p:cNvPr id="8" name="Text 4"/>
          <p:cNvSpPr/>
          <p:nvPr/>
        </p:nvSpPr>
        <p:spPr>
          <a:xfrm>
            <a:off x="8503920" y="2148840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Furnishings</a:t>
            </a:r>
            <a:endParaRPr lang="en-US" sz="1250" dirty="0"/>
          </a:p>
        </p:txBody>
      </p:sp>
      <p:sp>
        <p:nvSpPr>
          <p:cNvPr id="9" name="Text 5"/>
          <p:cNvSpPr/>
          <p:nvPr/>
        </p:nvSpPr>
        <p:spPr>
          <a:xfrm>
            <a:off x="10195560" y="2148840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9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-5.98%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8503920" y="2459736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-₹806 on ₹13,484 sales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8503920" y="3044952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 Games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10195560" y="3044952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9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-1.64%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8503920" y="3355848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-₹644 on ₹39,168 sales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8503920" y="3941064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Kurti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10195560" y="3941064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9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-11.93%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8503920" y="425196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-₹401 on ₹3,361 sales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8503920" y="4837176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Skirt</a:t>
            </a:r>
            <a:endParaRPr lang="en-US" sz="1250" dirty="0"/>
          </a:p>
        </p:txBody>
      </p:sp>
      <p:sp>
        <p:nvSpPr>
          <p:cNvPr id="18" name="Text 14"/>
          <p:cNvSpPr/>
          <p:nvPr/>
        </p:nvSpPr>
        <p:spPr>
          <a:xfrm>
            <a:off x="10195560" y="4837176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9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-16.19%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8503920" y="5148072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-₹315 on ₹1,946 sales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8503920" y="5751576"/>
            <a:ext cx="3017520" cy="0"/>
          </a:xfrm>
          <a:prstGeom prst="line">
            <a:avLst/>
          </a:prstGeom>
          <a:noFill/>
          <a:ln w="12700">
            <a:solidFill>
              <a:srgbClr val="3A4680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8503920" y="5870448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99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impact: ₹57,961 in sales, ₹1,896 net loss</a:t>
            </a:r>
            <a:endParaRPr lang="en-US" sz="1050" dirty="0"/>
          </a:p>
        </p:txBody>
      </p:sp>
      <p:sp>
        <p:nvSpPr>
          <p:cNvPr id="22" name="Text 18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Geographic Performance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Maharashtra and Madhya Pradesh anchor national sales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417320"/>
          <a:ext cx="649224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360920" y="1417320"/>
            <a:ext cx="4297680" cy="1965960"/>
          </a:xfrm>
          <a:prstGeom prst="roundRect">
            <a:avLst>
              <a:gd name="adj" fmla="val 3721"/>
            </a:avLst>
          </a:prstGeom>
          <a:solidFill>
            <a:srgbClr val="F7F8FB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7589520" y="16002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0104" y="1700784"/>
            <a:ext cx="301752" cy="30175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229600" y="1627632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3 Cities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8183880" y="2057400"/>
            <a:ext cx="3291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Indore — ₹63,680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Mumbai — ₹58,886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Pune — ₹43,612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7360920" y="3611880"/>
            <a:ext cx="4297680" cy="2103120"/>
          </a:xfrm>
          <a:prstGeom prst="roundRect">
            <a:avLst>
              <a:gd name="adj" fmla="val 3478"/>
            </a:avLst>
          </a:prstGeom>
          <a:solidFill>
            <a:srgbClr val="FBEAE5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3822192"/>
            <a:ext cx="365760" cy="36576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092440" y="3822192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544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Loss-Making States</a:t>
            </a:r>
            <a:endParaRPr lang="en-US" sz="1400" dirty="0"/>
          </a:p>
        </p:txBody>
      </p:sp>
      <p:sp>
        <p:nvSpPr>
          <p:cNvPr id="13" name="Text 8"/>
          <p:cNvSpPr/>
          <p:nvPr/>
        </p:nvSpPr>
        <p:spPr>
          <a:xfrm>
            <a:off x="7589520" y="4251960"/>
            <a:ext cx="3931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Rajasthan: ₹22,334 sales, -₹323 profit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Andhra Pradesh: ₹13,256 sales, -₹280 profit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require pricing / cost review</a:t>
            </a:r>
            <a:endParaRPr lang="en-US" sz="1200" dirty="0"/>
          </a:p>
        </p:txBody>
      </p:sp>
      <p:sp>
        <p:nvSpPr>
          <p:cNvPr id="14" name="Text 9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Insights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336 unique customers, moderate concentration, healthy repeat-purchase runway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214884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536192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336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2084832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Customers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880360" y="1417320"/>
            <a:ext cx="214884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971800" y="1536192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6E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1.49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2971800" y="2084832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Orders / Customer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212080" y="1417320"/>
            <a:ext cx="214884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303520" y="1536192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996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15.6%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5303520" y="2084832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Top-10 Share of Sales</a:t>
            </a:r>
            <a:endParaRPr lang="en-US" sz="1150" dirty="0"/>
          </a:p>
        </p:txBody>
      </p:sp>
      <p:graphicFrame>
        <p:nvGraphicFramePr>
          <p:cNvPr id="13" name="Chart 0" descr=""/>
          <p:cNvGraphicFramePr/>
          <p:nvPr/>
        </p:nvGraphicFramePr>
        <p:xfrm>
          <a:off x="548640" y="2880360"/>
          <a:ext cx="11064240" cy="2880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4" name="Text 11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Payment Mode Analysis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 dominates volume; Credit Card is the clear profitability leader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463040"/>
          <a:ext cx="512064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6035040" y="1463040"/>
          <a:ext cx="557784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 2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Seasonal Trends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strong Q1 and November bookend a loss-making mid-year trough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417320"/>
          <a:ext cx="1106424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B4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Strategic Recommendations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Prioritized actions to close the margin gap in FY2019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566160" cy="4572000"/>
          </a:xfrm>
          <a:prstGeom prst="roundRect">
            <a:avLst>
              <a:gd name="adj" fmla="val 2051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691640"/>
            <a:ext cx="502920" cy="502920"/>
          </a:xfrm>
          <a:prstGeom prst="ellipse">
            <a:avLst/>
          </a:prstGeom>
          <a:solidFill>
            <a:srgbClr val="0D6E6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1810512"/>
            <a:ext cx="265176" cy="26517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71907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Immediate (0–3 mo)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22960" y="2377440"/>
            <a:ext cx="30175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Cost/pricing review of Furnishings &amp; Electronic Games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Q3 margin collapse vs. profitable Q1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UPI / EMI channel economics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434840" y="1463040"/>
            <a:ext cx="3566160" cy="4572000"/>
          </a:xfrm>
          <a:prstGeom prst="roundRect">
            <a:avLst>
              <a:gd name="adj" fmla="val 2051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000000">
                <a:alpha val="2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63440" y="1691640"/>
            <a:ext cx="502920" cy="502920"/>
          </a:xfrm>
          <a:prstGeom prst="ellipse">
            <a:avLst/>
          </a:prstGeom>
          <a:solidFill>
            <a:srgbClr val="0D6E6E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2312" y="1810512"/>
            <a:ext cx="265176" cy="26517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303520" y="171907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Medium-Term (3–9 mo)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4709160" y="2377440"/>
            <a:ext cx="30175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demand behind high-margin T-shirt &amp; Shirt lines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Reassess Rajasthan &amp; Andhra Pradesh strategy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loyalty program to lift repeat purchase rate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321040" y="1463040"/>
            <a:ext cx="3566160" cy="4572000"/>
          </a:xfrm>
          <a:prstGeom prst="roundRect">
            <a:avLst>
              <a:gd name="adj" fmla="val 2051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000000">
                <a:alpha val="2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549640" y="1691640"/>
            <a:ext cx="502920" cy="502920"/>
          </a:xfrm>
          <a:prstGeom prst="ellipse">
            <a:avLst/>
          </a:prstGeom>
          <a:solidFill>
            <a:srgbClr val="0D6E6E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8512" y="1810512"/>
            <a:ext cx="265176" cy="26517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189720" y="171907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Structural / Long-Term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8595360" y="2377440"/>
            <a:ext cx="30175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Rebalance category mix toward Clothing's margin profile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Institute standing quarterly profitability reviews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Diversify beyond the two anchor states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B4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286000"/>
            <a:ext cx="5486400" cy="5486400"/>
          </a:xfrm>
          <a:prstGeom prst="ellipse">
            <a:avLst/>
          </a:prstGeom>
          <a:solidFill>
            <a:srgbClr val="1E2761">
              <a:alpha val="6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46888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822960" y="32461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996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 &amp; Discussion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22960" y="457200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report, dashboard, and underlying data tables available as companion deliverables.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Raju Kumar Sahu, Data Analyst · July 2026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E-Commerce Sales Performance — FY2018</dc:title>
  <dc:subject>PptxGenJS Presentation</dc:subject>
  <dc:creator>Raju Kumar Sahu</dc:creator>
  <cp:lastModifiedBy>Raju Kumar Sahu</cp:lastModifiedBy>
  <cp:revision>1</cp:revision>
  <dcterms:created xsi:type="dcterms:W3CDTF">2026-07-07T17:51:31Z</dcterms:created>
  <dcterms:modified xsi:type="dcterms:W3CDTF">2026-07-07T17:51:31Z</dcterms:modified>
</cp:coreProperties>
</file>